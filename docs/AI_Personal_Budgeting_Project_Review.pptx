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201317"/>
    <p:sldId id="266" r:id="rId201318"/>
    <p:sldId id="267" r:id="rId201319"/>
    <p:sldId id="268" r:id="rId201320"/>
    <p:sldId id="269" r:id="rId201321"/>
    <p:sldId id="270" r:id="rId201322"/>
    <p:sldId id="271" r:id="rId201323"/>
    <p:sldId id="272" r:id="rId201324"/>
  </p:sldIdLst>
  <p:notesMasterIdLst>
    <p:notesMasterId r:id="rId11"/>
  </p:notesMasterIdLst>
  <p:sldSz cx="12191695" cy="6858000"/>
  <p:notesSz cx="6858000" cy="12191695"/>
  <p:embeddedFontLst>
    <p:embeddedFont>
      <p:font typeface="Alexandria Medium"/>
      <p:regular r:id="rId201314"/>
    </p:embeddedFont>
    <p:embeddedFont>
      <p:font typeface="Manrope"/>
      <p:regular r:id="rId201315"/>
    </p:embeddedFont>
    <p:embeddedFont>
      <p:font typeface="Manrope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  <Relationship Id="rId201317" Type="http://schemas.openxmlformats.org/officeDocument/2006/relationships/slide" Target="slides/slide10.xml"/>
  <Relationship Id="rId201318" Type="http://schemas.openxmlformats.org/officeDocument/2006/relationships/slide" Target="slides/slide11.xml"/>
  <Relationship Id="rId201319" Type="http://schemas.openxmlformats.org/officeDocument/2006/relationships/slide" Target="slides/slide12.xml"/>
  <Relationship Id="rId201320" Type="http://schemas.openxmlformats.org/officeDocument/2006/relationships/slide" Target="slides/slide13.xml"/>
  <Relationship Id="rId201321" Type="http://schemas.openxmlformats.org/officeDocument/2006/relationships/slide" Target="slides/slide14.xml"/>
  <Relationship Id="rId201322" Type="http://schemas.openxmlformats.org/officeDocument/2006/relationships/slide" Target="slides/slide15.xml"/>
  <Relationship Id="rId201323" Type="http://schemas.openxmlformats.org/officeDocument/2006/relationships/slide" Target="slides/slide16.xml"/>
  <Relationship Id="rId201324" Type="http://schemas.openxmlformats.org/officeDocument/2006/relationships/slide" Target="slides/slide17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image" Target="../media/image-2-11.svg"/><Relationship Id="rId12" Type="http://schemas.openxmlformats.org/officeDocument/2006/relationships/image" Target="../media/image-2-12.png"/><Relationship Id="rId13" Type="http://schemas.openxmlformats.org/officeDocument/2006/relationships/image" Target="../media/image-2-13.svg"/><Relationship Id="rId14" Type="http://schemas.openxmlformats.org/officeDocument/2006/relationships/image" Target="../media/image-2-14.png"/><Relationship Id="rId15" Type="http://schemas.openxmlformats.org/officeDocument/2006/relationships/image" Target="../media/image-2-15.svg"/><Relationship Id="rId16" Type="http://schemas.openxmlformats.org/officeDocument/2006/relationships/image" Target="../media/image-2-16.png"/><Relationship Id="rId17" Type="http://schemas.openxmlformats.org/officeDocument/2006/relationships/image" Target="../media/image-2-17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image" Target="../media/image-4-2.png"/><Relationship Id="rId11" Type="http://schemas.openxmlformats.org/officeDocument/2006/relationships/image" Target="../media/image-4-3.svg"/><Relationship Id="rId12" Type="http://schemas.openxmlformats.org/officeDocument/2006/relationships/image" Target="../media/image-4-2.png"/><Relationship Id="rId13" Type="http://schemas.openxmlformats.org/officeDocument/2006/relationships/image" Target="../media/image-4-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image" Target="../media/image-6-2.png"/><Relationship Id="rId9" Type="http://schemas.openxmlformats.org/officeDocument/2006/relationships/image" Target="../media/image-6-3.svg"/><Relationship Id="rId10" Type="http://schemas.openxmlformats.org/officeDocument/2006/relationships/image" Target="../media/image-6-2.png"/><Relationship Id="rId11" Type="http://schemas.openxmlformats.org/officeDocument/2006/relationships/image" Target="../media/image-6-3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image" Target="../media/review-dashboard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image" Target="../media/review-ledger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image" Target="../media/review-policy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image" Target="../media/review-agent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image" Target="../media/review-profile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4677" y="1207790"/>
            <a:ext cx="671793" cy="6718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75694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An AI-Assisted Microservices Platform for Personal Budgeting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010521"/>
            <a:ext cx="5203794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Under the Guidance of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Dr. KETINENI VENKATESWARI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Assistant Professor,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Department of Computer Science and Engineering,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KLH CSE Bowrampet Campus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332776" y="4010521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Team Members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 M.Aruna Grace (2420030100)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2. K.Sai Sree Chowdary (2420030168)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 G.Manaswi (2420030182)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0734"/>
            <a:ext cx="803810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Outline of Project Work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2195314"/>
            <a:ext cx="864769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stages and milestones in the development of the project.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2935" y="1453555"/>
            <a:ext cx="1033635" cy="1033661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359249"/>
            <a:ext cx="465126" cy="4651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4053284"/>
            <a:ext cx="25454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1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Focus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35859" y="3359249"/>
            <a:ext cx="465126" cy="4651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35859" y="4053284"/>
            <a:ext cx="25454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1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Introduction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10244" y="3359249"/>
            <a:ext cx="465126" cy="46513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210244" y="4053284"/>
            <a:ext cx="25454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1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Literature Survey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84628" y="3359249"/>
            <a:ext cx="465126" cy="46513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984628" y="4053284"/>
            <a:ext cx="2545592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1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Problem Gap Identification</a:t>
            </a:r>
            <a:endParaRPr lang="en-US" sz="18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5001022"/>
            <a:ext cx="465126" cy="46513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61475" y="5695057"/>
            <a:ext cx="2545493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1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Innovation, Creativity, and Novelty</a:t>
            </a:r>
            <a:endParaRPr lang="en-US" sz="18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35859" y="5001022"/>
            <a:ext cx="465126" cy="46513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3435859" y="5695057"/>
            <a:ext cx="25454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1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Objectives</a:t>
            </a:r>
            <a:endParaRPr lang="en-US" sz="18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10244" y="5001022"/>
            <a:ext cx="465126" cy="46513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210244" y="5695057"/>
            <a:ext cx="25454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1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System Architecture</a:t>
            </a:r>
            <a:endParaRPr lang="en-US" sz="18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4628" y="5001022"/>
            <a:ext cx="465126" cy="465138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984628" y="5695057"/>
            <a:ext cx="2545592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1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Feasibility and Project Plan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20031"/>
            <a:ext cx="803622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Problem Statement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99692"/>
            <a:ext cx="80362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Personal finance management is becoming harder as spending becomes more fragmented and harder to track.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6465" y="1756271"/>
            <a:ext cx="1050006" cy="1050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287216"/>
            <a:ext cx="10868745" cy="2239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Managing personal finances has become increasingly challenging due to multiple sources of income, frequent digital transactions, recurring expenses, savings goals, and the lack of a unified system for understanding spending behavior.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Traditional budgeting applications often provide only basic expense tracking and require users to manually analyze their financial data.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makes it difficult for individuals to identify unnecessary expenses, predict future spending, and make informed financial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2553"/>
            <a:ext cx="8050706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spc="-33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Objectives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03945"/>
            <a:ext cx="866029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These objectives define the core capabilities and outcomes of the proposed personal budgeting system.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3304" y="760611"/>
            <a:ext cx="713266" cy="713284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44886"/>
            <a:ext cx="5362044" cy="13419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43281" y="2068909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spc="-1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845819" y="2606377"/>
            <a:ext cx="499335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design and implement a modular microservices architecture for personal budgeting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8176" y="1944886"/>
            <a:ext cx="5362044" cy="134193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749982" y="2068909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spc="-1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6352520" y="2606377"/>
            <a:ext cx="499335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develop AI-driven analytics to provide personalized financial insights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431480"/>
            <a:ext cx="5362044" cy="134193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243281" y="355550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spc="-1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845819" y="4092972"/>
            <a:ext cx="499335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create an interactive dashboard for financial visualization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68176" y="3431480"/>
            <a:ext cx="5362044" cy="134193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749982" y="355550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spc="-1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6352520" y="4092972"/>
            <a:ext cx="499335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enable automated expense categorization and budget monitoring</a:t>
            </a:r>
            <a:endParaRPr lang="en-US" sz="13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4918075"/>
            <a:ext cx="5362044" cy="134193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243281" y="5042098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spc="-1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</a:t>
            </a:r>
            <a:endParaRPr lang="en-US" sz="1550" dirty="0"/>
          </a:p>
        </p:txBody>
      </p:sp>
      <p:sp>
        <p:nvSpPr>
          <p:cNvPr id="19" name="Text 11"/>
          <p:cNvSpPr/>
          <p:nvPr/>
        </p:nvSpPr>
        <p:spPr>
          <a:xfrm>
            <a:off x="845819" y="5579566"/>
            <a:ext cx="499335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implement intelligent anomaly detection for unusual spending patterns</a:t>
            </a:r>
            <a:endParaRPr lang="en-US" sz="13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68176" y="4918075"/>
            <a:ext cx="5362044" cy="134193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749982" y="5042098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spc="-1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6</a:t>
            </a:r>
            <a:endParaRPr lang="en-US" sz="1550" dirty="0"/>
          </a:p>
        </p:txBody>
      </p:sp>
      <p:sp>
        <p:nvSpPr>
          <p:cNvPr id="22" name="Text 13"/>
          <p:cNvSpPr/>
          <p:nvPr/>
        </p:nvSpPr>
        <p:spPr>
          <a:xfrm>
            <a:off x="6352520" y="5579566"/>
            <a:ext cx="499335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provide proactive financial recommendations and alerts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4111"/>
            <a:ext cx="807233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spc="-26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Literature Survey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319411"/>
            <a:ext cx="868192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review of recent research papers on AI-driven personal finance, budgeting, and financial management systems.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6197" y="835323"/>
            <a:ext cx="560373" cy="560388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675705"/>
          <a:ext cx="9143771" cy="914400"/>
        </p:xfrm>
        <a:graphic>
          <a:graphicData uri="http://schemas.openxmlformats.org/drawingml/2006/table">
            <a:tbl>
              <a:tblPr/>
              <a:tblGrid>
                <a:gridCol w="869500"/>
                <a:gridCol w="1738999"/>
                <a:gridCol w="3043249"/>
                <a:gridCol w="2608499"/>
                <a:gridCol w="2608499"/>
              </a:tblGrid>
              <a:tr h="2984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S. No.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Author/Year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Research Work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Key Contribution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Research Gap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78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DSouza et al., 2026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Comprehensive Review of Machine Learning Techniques for Intelligent Personal Finance Management Systems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Provides a broad review of ML methods used in personal finance management, highlighting their role in automation, prediction, and decision support.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Calls for more integrated, user-centric, and real-world validated systems that go beyond isolated ML techniques.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78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Jadhav &amp; Patil, 2025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AI-ML Based Expense Categorization and Budgeting System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Proposes an AI-ML driven system for automatic expense categorization and budget tracking to simplify personal financial planning.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Needs stronger handling of diverse transaction patterns and improved adaptability across user profiles and spending behaviors.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78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Pak, 2026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How Individuals Use Generative AI for Personal Financial Management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Examines how individuals apply generative AI tools for budgeting, financial advice, and everyday money management tasks.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Further study is needed on trust, accuracy, privacy, and long-term behavioral impact of generative AI in finance.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78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Halage &amp; Bharathkumar, 2026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Artificial Intelligence in Personal Finance: Implications for Sustainable Financial Behavior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Explores how AI can influence sustainable financial habits by supporting better spending, saving, and planning decisions.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Lacks deeper empirical evidence on whether AI guidance consistently leads to sustained behavior change over time.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46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Financial Management System Study, 2025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Design of a Digital and Intelligent Financial Management System Based on Business-Finance Integration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Introduces an intelligent financial management design that integrates business and finance functions for more efficient management workflows.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Requires validation in broader deployment environments and clearer assessment of usability and scalability.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9950" marR="129950" marT="6350" marB="635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1805"/>
            <a:ext cx="803622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Problem Gap Identification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31466"/>
            <a:ext cx="86458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focused review of the key limitations shaping current financial management solutions.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1310" y="975420"/>
            <a:ext cx="815161" cy="815181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16572"/>
            <a:ext cx="2575357" cy="17447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7479" y="2630984"/>
            <a:ext cx="20449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Gap 1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77479" y="3039666"/>
            <a:ext cx="20449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Lack of a unified financial management system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839" y="2416572"/>
            <a:ext cx="2575456" cy="17447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741842" y="2630984"/>
            <a:ext cx="20450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Gap 2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3741842" y="3039666"/>
            <a:ext cx="20450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Limited AI-driven insights in traditional budgeting apps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90301" y="2416572"/>
            <a:ext cx="2575456" cy="17447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06305" y="2630984"/>
            <a:ext cx="20450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Gap 3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6506305" y="3039666"/>
            <a:ext cx="20450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Absence of real-time anomaly detection</a:t>
            </a:r>
            <a:endParaRPr lang="en-US" sz="14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54764" y="2416572"/>
            <a:ext cx="2575456" cy="174476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270768" y="2630984"/>
            <a:ext cx="20450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Gap 4</a:t>
            </a:r>
            <a:endParaRPr lang="en-US" sz="1850" dirty="0"/>
          </a:p>
        </p:txBody>
      </p:sp>
      <p:sp>
        <p:nvSpPr>
          <p:cNvPr id="16" name="Text 9"/>
          <p:cNvSpPr/>
          <p:nvPr/>
        </p:nvSpPr>
        <p:spPr>
          <a:xfrm>
            <a:off x="9270768" y="3039666"/>
            <a:ext cx="20450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Poor scalability in existing microservices implementations</a:t>
            </a:r>
            <a:endParaRPr lang="en-US" sz="14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4350345"/>
            <a:ext cx="2575357" cy="174476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77479" y="4564757"/>
            <a:ext cx="20449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Gap 5</a:t>
            </a:r>
            <a:endParaRPr lang="en-US" sz="1850" dirty="0"/>
          </a:p>
        </p:txBody>
      </p:sp>
      <p:sp>
        <p:nvSpPr>
          <p:cNvPr id="19" name="Text 11"/>
          <p:cNvSpPr/>
          <p:nvPr/>
        </p:nvSpPr>
        <p:spPr>
          <a:xfrm>
            <a:off x="977479" y="4973439"/>
            <a:ext cx="20449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Inadequate user experience for diverse user groups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2150"/>
            <a:ext cx="804703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spc="-3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Innovation, Creativity, and Novelty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382613"/>
            <a:ext cx="804703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project combines intelligent analytics, modular design, and user-focused experiences to rethink personal finance management.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7706" y="711597"/>
            <a:ext cx="738764" cy="73878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2219424"/>
            <a:ext cx="5356786" cy="1263749"/>
          </a:xfrm>
          <a:prstGeom prst="roundRect">
            <a:avLst>
              <a:gd name="adj" fmla="val 20332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1772" y="2409726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1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Novel Integration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51772" y="2770386"/>
            <a:ext cx="4976192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Combining AI-driven analytics with microservices architecture for personal finance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3435" y="2219424"/>
            <a:ext cx="5356786" cy="1263749"/>
          </a:xfrm>
          <a:prstGeom prst="roundRect">
            <a:avLst>
              <a:gd name="adj" fmla="val 20332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63731" y="2409726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1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Creative Solution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363731" y="2770386"/>
            <a:ext cx="4976192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dashboard with real-time financial insights and personalized recommendations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3638352"/>
            <a:ext cx="5356786" cy="1263749"/>
          </a:xfrm>
          <a:prstGeom prst="roundRect">
            <a:avLst>
              <a:gd name="adj" fmla="val 20332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1772" y="3828653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1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Novelty in Approach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51772" y="4189313"/>
            <a:ext cx="4976192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Modular service-oriented design enabling independent scaling and deployment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3435" y="3638352"/>
            <a:ext cx="5356786" cy="1263749"/>
          </a:xfrm>
          <a:prstGeom prst="roundRect">
            <a:avLst>
              <a:gd name="adj" fmla="val 20332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63731" y="3828653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1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Advanced AI Techniques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363731" y="4189313"/>
            <a:ext cx="4976192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Machine learning algorithms for spending pattern prediction and anomaly detection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1475" y="5057279"/>
            <a:ext cx="5356786" cy="1263749"/>
          </a:xfrm>
          <a:prstGeom prst="roundRect">
            <a:avLst>
              <a:gd name="adj" fmla="val 20332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1772" y="5247580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1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User-Centric Innovation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851772" y="5608241"/>
            <a:ext cx="4976192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Intelligent alerts and proactive financial guidance based on behavioral analysis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73435" y="5057279"/>
            <a:ext cx="5356786" cy="1263749"/>
          </a:xfrm>
          <a:prstGeom prst="roundRect">
            <a:avLst>
              <a:gd name="adj" fmla="val 20332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63731" y="5247580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1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Scalable Architecture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6363731" y="5608241"/>
            <a:ext cx="4976192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Cloud-native microservices enabling seamless growth and reliability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2895"/>
            <a:ext cx="7515136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spc="-25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System Architecture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661475" y="1105098"/>
            <a:ext cx="8124721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modular microservices platform connects core financial services through secure APIs for scalable, intelligent management.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8797" y="633512"/>
            <a:ext cx="547674" cy="5476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447701"/>
            <a:ext cx="10868745" cy="33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platform is built on a robust microservices architecture, ensuring scalability, maintainability, and independent deployment of components. Each service communicates via well-defined APIs to provide a seamless and intelligent financial management experience.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979315"/>
            <a:ext cx="5298942" cy="29807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5151934"/>
            <a:ext cx="10868745" cy="116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Authentication Service:</a:t>
            </a:r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Secure user management, including login, registration, and access control.</a:t>
            </a:r>
            <a:endParaRPr lang="en-US" sz="950" dirty="0"/>
          </a:p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Transaction Service:</a:t>
            </a:r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Recording and managing all financial activities, such as income and expenses.</a:t>
            </a:r>
            <a:endParaRPr lang="en-US" sz="950" dirty="0"/>
          </a:p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Budget Service:</a:t>
            </a:r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Creating, tracking, and monitoring user-defined budgets across various categories.</a:t>
            </a:r>
            <a:endParaRPr lang="en-US" sz="950" dirty="0"/>
          </a:p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AI Analysis Service:</a:t>
            </a:r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Generating intelligent financial insights, identifying spending patterns, and providing personalized recommendations.</a:t>
            </a:r>
            <a:endParaRPr lang="en-US" sz="950" dirty="0"/>
          </a:p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Notification Service:</a:t>
            </a:r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Delivering timely alerts and reminders for budget limits, upcoming bills, and financial goals.</a:t>
            </a:r>
            <a:endParaRPr lang="en-US" sz="950" dirty="0"/>
          </a:p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Interactive Dashboard:</a:t>
            </a:r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 user-friendly interface for visualizing financial data, customizing reports, and interacting with the system.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3316"/>
            <a:ext cx="803622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Feasibility and Project Plan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72977"/>
            <a:ext cx="80362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phased development timeline from requirements gathering through deployment and documentation.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1310" y="1316930"/>
            <a:ext cx="815161" cy="81518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4407098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B3D5E4"/>
          </a:solidFill>
          <a:ln/>
        </p:spPr>
      </p:sp>
      <p:sp>
        <p:nvSpPr>
          <p:cNvPr id="6" name="Shape 3"/>
          <p:cNvSpPr/>
          <p:nvPr/>
        </p:nvSpPr>
        <p:spPr>
          <a:xfrm>
            <a:off x="2117077" y="3840063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3D5E4"/>
          </a:solidFill>
          <a:ln/>
        </p:spPr>
      </p:sp>
      <p:sp>
        <p:nvSpPr>
          <p:cNvPr id="7" name="Shape 4"/>
          <p:cNvSpPr/>
          <p:nvPr/>
        </p:nvSpPr>
        <p:spPr>
          <a:xfrm>
            <a:off x="1917156" y="4194473"/>
            <a:ext cx="425241" cy="425252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88046" y="42298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2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50482" y="3060502"/>
            <a:ext cx="25585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Requirements Analysis &amp; Design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3703446" y="4407098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3D5E4"/>
          </a:solidFill>
          <a:ln/>
        </p:spPr>
      </p:sp>
      <p:sp>
        <p:nvSpPr>
          <p:cNvPr id="11" name="Shape 8"/>
          <p:cNvSpPr/>
          <p:nvPr/>
        </p:nvSpPr>
        <p:spPr>
          <a:xfrm>
            <a:off x="3503525" y="4194473"/>
            <a:ext cx="425241" cy="425252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74415" y="42298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2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436851" y="5163145"/>
            <a:ext cx="25585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Microservices Development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5289914" y="3840063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3D5E4"/>
          </a:solidFill>
          <a:ln/>
        </p:spPr>
      </p:sp>
      <p:sp>
        <p:nvSpPr>
          <p:cNvPr id="15" name="Shape 12"/>
          <p:cNvSpPr/>
          <p:nvPr/>
        </p:nvSpPr>
        <p:spPr>
          <a:xfrm>
            <a:off x="5089993" y="4194473"/>
            <a:ext cx="425241" cy="425252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60883" y="42298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2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023319" y="3060502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AI/ML Integration</a:t>
            </a:r>
            <a:endParaRPr lang="en-US" sz="1850" dirty="0"/>
          </a:p>
        </p:txBody>
      </p:sp>
      <p:sp>
        <p:nvSpPr>
          <p:cNvPr id="18" name="Shape 15"/>
          <p:cNvSpPr/>
          <p:nvPr/>
        </p:nvSpPr>
        <p:spPr>
          <a:xfrm>
            <a:off x="6876283" y="4407098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3D5E4"/>
          </a:solidFill>
          <a:ln/>
        </p:spPr>
      </p:sp>
      <p:sp>
        <p:nvSpPr>
          <p:cNvPr id="19" name="Shape 16"/>
          <p:cNvSpPr/>
          <p:nvPr/>
        </p:nvSpPr>
        <p:spPr>
          <a:xfrm>
            <a:off x="6676362" y="4194473"/>
            <a:ext cx="425241" cy="425252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47252" y="42298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2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609688" y="5163145"/>
            <a:ext cx="25585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Dashboard Development</a:t>
            </a:r>
            <a:endParaRPr lang="en-US" sz="1850" dirty="0"/>
          </a:p>
        </p:txBody>
      </p:sp>
      <p:sp>
        <p:nvSpPr>
          <p:cNvPr id="22" name="Shape 19"/>
          <p:cNvSpPr/>
          <p:nvPr/>
        </p:nvSpPr>
        <p:spPr>
          <a:xfrm>
            <a:off x="8462751" y="3840063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3D5E4"/>
          </a:solidFill>
          <a:ln/>
        </p:spPr>
      </p:sp>
      <p:sp>
        <p:nvSpPr>
          <p:cNvPr id="23" name="Shape 20"/>
          <p:cNvSpPr/>
          <p:nvPr/>
        </p:nvSpPr>
        <p:spPr>
          <a:xfrm>
            <a:off x="8262830" y="4194473"/>
            <a:ext cx="425241" cy="425252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33720" y="42298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2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196156" y="3060502"/>
            <a:ext cx="25585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Testing &amp; Optimization</a:t>
            </a:r>
            <a:endParaRPr lang="en-US" sz="1850" dirty="0"/>
          </a:p>
        </p:txBody>
      </p:sp>
      <p:sp>
        <p:nvSpPr>
          <p:cNvPr id="26" name="Shape 23"/>
          <p:cNvSpPr/>
          <p:nvPr/>
        </p:nvSpPr>
        <p:spPr>
          <a:xfrm>
            <a:off x="10049120" y="4407098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3D5E4"/>
          </a:solidFill>
          <a:ln/>
        </p:spPr>
      </p:sp>
      <p:sp>
        <p:nvSpPr>
          <p:cNvPr id="27" name="Shape 24"/>
          <p:cNvSpPr/>
          <p:nvPr/>
        </p:nvSpPr>
        <p:spPr>
          <a:xfrm>
            <a:off x="9849199" y="4194473"/>
            <a:ext cx="425241" cy="425252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920089" y="42298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2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6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8782525" y="5163145"/>
            <a:ext cx="25585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Deployment &amp; Documentation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gress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661475" y="560000"/>
            <a:ext cx="98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3250" spc="-3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Project Progress Review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61475" y="1200000"/>
            <a:ext cx="99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Status of each planned phase at this review. The front-end is implemented and deployed live.</a:t>
            </a:r>
          </a:p>
        </p:txBody>
      </p:sp>
      <p:pic>
        <p:nvPicPr>
          <p:cNvPr id="13" name="Image 13" descr="KLH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3304" y="500000"/>
            <a:ext cx="713266" cy="713284"/>
          </a:xfrm>
          <a:prstGeom prst="rect">
            <a:avLst/>
          </a:prstGeom>
        </p:spPr>
      </p:pic>
      <p:sp>
        <p:nvSpPr>
          <p:cNvPr id="14" name="Shape 14"/>
          <p:cNvSpPr/>
          <p:nvPr/>
        </p:nvSpPr>
        <p:spPr>
          <a:xfrm>
            <a:off x="661475" y="1700000"/>
            <a:ext cx="7150000" cy="64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5" name="Shape 15"/>
          <p:cNvSpPr/>
          <p:nvPr/>
        </p:nvSpPr>
        <p:spPr>
          <a:xfrm>
            <a:off x="811475" y="183000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811475" y="183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361475" y="1790000"/>
            <a:ext cx="47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200"/>
              </a:spcAft>
              <a:buNone/>
            </a:pPr>
            <a:r>
              <a:rPr lang="en-US" sz="140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Requirements Analysis &amp; Design</a:t>
            </a:r>
          </a:p>
          <a:p>
            <a:pPr algn="l"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Problem, objectives, literature survey and architecture finalised</a:t>
            </a:r>
          </a:p>
        </p:txBody>
      </p:sp>
      <p:sp>
        <p:nvSpPr>
          <p:cNvPr id="18" name="Shape 18"/>
          <p:cNvSpPr/>
          <p:nvPr/>
        </p:nvSpPr>
        <p:spPr>
          <a:xfrm>
            <a:off x="6291475" y="1855000"/>
            <a:ext cx="1350000" cy="330000"/>
          </a:xfrm>
          <a:prstGeom prst="roundRect">
            <a:avLst>
              <a:gd name="adj" fmla="val 50000"/>
            </a:avLst>
          </a:prstGeom>
          <a:solidFill>
            <a:srgbClr val="5B6E8C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6291475" y="1855000"/>
            <a:ext cx="135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Completed</a:t>
            </a:r>
          </a:p>
        </p:txBody>
      </p:sp>
      <p:sp>
        <p:nvSpPr>
          <p:cNvPr id="20" name="Shape 20"/>
          <p:cNvSpPr/>
          <p:nvPr/>
        </p:nvSpPr>
        <p:spPr>
          <a:xfrm>
            <a:off x="661475" y="2450000"/>
            <a:ext cx="7150000" cy="64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1" name="Shape 21"/>
          <p:cNvSpPr/>
          <p:nvPr/>
        </p:nvSpPr>
        <p:spPr>
          <a:xfrm>
            <a:off x="811475" y="258000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811475" y="258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361475" y="2540000"/>
            <a:ext cx="47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200"/>
              </a:spcAft>
              <a:buNone/>
            </a:pPr>
            <a:r>
              <a:rPr lang="en-US" sz="140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Microservices Development</a:t>
            </a:r>
          </a:p>
          <a:p>
            <a:pPr algn="l"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Service logic running in simulation mode (UPI, x402, Algorand)</a:t>
            </a:r>
          </a:p>
        </p:txBody>
      </p:sp>
      <p:sp>
        <p:nvSpPr>
          <p:cNvPr id="24" name="Shape 24"/>
          <p:cNvSpPr/>
          <p:nvPr/>
        </p:nvSpPr>
        <p:spPr>
          <a:xfrm>
            <a:off x="6291475" y="2605000"/>
            <a:ext cx="1350000" cy="330000"/>
          </a:xfrm>
          <a:prstGeom prst="roundRect">
            <a:avLst>
              <a:gd name="adj" fmla="val 50000"/>
            </a:avLst>
          </a:prstGeom>
          <a:solidFill>
            <a:srgbClr val="E6F7FF"/>
          </a:solidFill>
          <a:ln w="9525">
            <a:solidFill>
              <a:srgbClr val="B3D5E4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6291475" y="2605000"/>
            <a:ext cx="135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Progress</a:t>
            </a:r>
          </a:p>
        </p:txBody>
      </p:sp>
      <p:sp>
        <p:nvSpPr>
          <p:cNvPr id="26" name="Shape 26"/>
          <p:cNvSpPr/>
          <p:nvPr/>
        </p:nvSpPr>
        <p:spPr>
          <a:xfrm>
            <a:off x="661475" y="3200000"/>
            <a:ext cx="7150000" cy="64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7" name="Shape 27"/>
          <p:cNvSpPr/>
          <p:nvPr/>
        </p:nvSpPr>
        <p:spPr>
          <a:xfrm>
            <a:off x="811475" y="333000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811475" y="333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1361475" y="3290000"/>
            <a:ext cx="47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200"/>
              </a:spcAft>
              <a:buNone/>
            </a:pPr>
            <a:r>
              <a:rPr lang="en-US" sz="140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AI/ML Integration</a:t>
            </a:r>
          </a:p>
          <a:p>
            <a:pPr algn="l"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Gemini-powered BlockPay AI Assistant integrated for spending checks</a:t>
            </a:r>
          </a:p>
        </p:txBody>
      </p:sp>
      <p:sp>
        <p:nvSpPr>
          <p:cNvPr id="30" name="Shape 30"/>
          <p:cNvSpPr/>
          <p:nvPr/>
        </p:nvSpPr>
        <p:spPr>
          <a:xfrm>
            <a:off x="6291475" y="3355000"/>
            <a:ext cx="1350000" cy="330000"/>
          </a:xfrm>
          <a:prstGeom prst="roundRect">
            <a:avLst>
              <a:gd name="adj" fmla="val 50000"/>
            </a:avLst>
          </a:prstGeom>
          <a:solidFill>
            <a:srgbClr val="E6F7FF"/>
          </a:solidFill>
          <a:ln w="9525">
            <a:solidFill>
              <a:srgbClr val="B3D5E4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6291475" y="3355000"/>
            <a:ext cx="135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Progress</a:t>
            </a:r>
          </a:p>
        </p:txBody>
      </p:sp>
      <p:sp>
        <p:nvSpPr>
          <p:cNvPr id="32" name="Shape 32"/>
          <p:cNvSpPr/>
          <p:nvPr/>
        </p:nvSpPr>
        <p:spPr>
          <a:xfrm>
            <a:off x="661475" y="3950000"/>
            <a:ext cx="7150000" cy="64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33" name="Shape 33"/>
          <p:cNvSpPr/>
          <p:nvPr/>
        </p:nvSpPr>
        <p:spPr>
          <a:xfrm>
            <a:off x="811475" y="408000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811475" y="408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1361475" y="4040000"/>
            <a:ext cx="47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200"/>
              </a:spcAft>
              <a:buNone/>
            </a:pPr>
            <a:r>
              <a:rPr lang="en-US" sz="140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Dashboard Development</a:t>
            </a:r>
          </a:p>
          <a:p>
            <a:pPr algn="l"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Six front-end modules built with charts, QR and payment flows</a:t>
            </a:r>
          </a:p>
        </p:txBody>
      </p:sp>
      <p:sp>
        <p:nvSpPr>
          <p:cNvPr id="36" name="Shape 36"/>
          <p:cNvSpPr/>
          <p:nvPr/>
        </p:nvSpPr>
        <p:spPr>
          <a:xfrm>
            <a:off x="6291475" y="4105000"/>
            <a:ext cx="1350000" cy="330000"/>
          </a:xfrm>
          <a:prstGeom prst="roundRect">
            <a:avLst>
              <a:gd name="adj" fmla="val 50000"/>
            </a:avLst>
          </a:prstGeom>
          <a:solidFill>
            <a:srgbClr val="5B6E8C"/>
          </a:solidFill>
          <a:ln>
            <a:noFill/>
          </a:ln>
        </p:spPr>
      </p:sp>
      <p:sp>
        <p:nvSpPr>
          <p:cNvPr id="37" name="Text 37"/>
          <p:cNvSpPr txBox="1"/>
          <p:nvPr/>
        </p:nvSpPr>
        <p:spPr>
          <a:xfrm>
            <a:off x="6291475" y="4105000"/>
            <a:ext cx="135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Completed</a:t>
            </a:r>
          </a:p>
        </p:txBody>
      </p:sp>
      <p:sp>
        <p:nvSpPr>
          <p:cNvPr id="38" name="Shape 38"/>
          <p:cNvSpPr/>
          <p:nvPr/>
        </p:nvSpPr>
        <p:spPr>
          <a:xfrm>
            <a:off x="661475" y="4700000"/>
            <a:ext cx="7150000" cy="64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39" name="Shape 39"/>
          <p:cNvSpPr/>
          <p:nvPr/>
        </p:nvSpPr>
        <p:spPr>
          <a:xfrm>
            <a:off x="811475" y="483000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40" name="Text 40"/>
          <p:cNvSpPr txBox="1"/>
          <p:nvPr/>
        </p:nvSpPr>
        <p:spPr>
          <a:xfrm>
            <a:off x="811475" y="483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1361475" y="4790000"/>
            <a:ext cx="47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200"/>
              </a:spcAft>
              <a:buNone/>
            </a:pPr>
            <a:r>
              <a:rPr lang="en-US" sz="140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Testing &amp; Optimization</a:t>
            </a:r>
          </a:p>
          <a:p>
            <a:pPr algn="l"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End-to-end flows verified with demo data (Hackathon Demo v2.5)</a:t>
            </a:r>
          </a:p>
        </p:txBody>
      </p:sp>
      <p:sp>
        <p:nvSpPr>
          <p:cNvPr id="42" name="Shape 42"/>
          <p:cNvSpPr/>
          <p:nvPr/>
        </p:nvSpPr>
        <p:spPr>
          <a:xfrm>
            <a:off x="6291475" y="4855000"/>
            <a:ext cx="1350000" cy="330000"/>
          </a:xfrm>
          <a:prstGeom prst="roundRect">
            <a:avLst>
              <a:gd name="adj" fmla="val 50000"/>
            </a:avLst>
          </a:prstGeom>
          <a:solidFill>
            <a:srgbClr val="E6F7FF"/>
          </a:solidFill>
          <a:ln w="9525">
            <a:solidFill>
              <a:srgbClr val="B3D5E4"/>
            </a:solidFill>
            <a:prstDash val="solid"/>
          </a:ln>
        </p:spPr>
      </p:sp>
      <p:sp>
        <p:nvSpPr>
          <p:cNvPr id="43" name="Text 43"/>
          <p:cNvSpPr txBox="1"/>
          <p:nvPr/>
        </p:nvSpPr>
        <p:spPr>
          <a:xfrm>
            <a:off x="6291475" y="4855000"/>
            <a:ext cx="135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Progress</a:t>
            </a:r>
          </a:p>
        </p:txBody>
      </p:sp>
      <p:sp>
        <p:nvSpPr>
          <p:cNvPr id="44" name="Shape 44"/>
          <p:cNvSpPr/>
          <p:nvPr/>
        </p:nvSpPr>
        <p:spPr>
          <a:xfrm>
            <a:off x="661475" y="5450000"/>
            <a:ext cx="7150000" cy="64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45" name="Shape 45"/>
          <p:cNvSpPr/>
          <p:nvPr/>
        </p:nvSpPr>
        <p:spPr>
          <a:xfrm>
            <a:off x="811475" y="558000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46" name="Text 46"/>
          <p:cNvSpPr txBox="1"/>
          <p:nvPr/>
        </p:nvSpPr>
        <p:spPr>
          <a:xfrm>
            <a:off x="811475" y="558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6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1361475" y="5540000"/>
            <a:ext cx="47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200"/>
              </a:spcAft>
              <a:buNone/>
            </a:pPr>
            <a:r>
              <a:rPr lang="en-US" sz="140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Deployment &amp; Documentation</a:t>
            </a:r>
          </a:p>
          <a:p>
            <a:pPr algn="l"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Front-end deployed on Vercel; documentation under way</a:t>
            </a:r>
          </a:p>
        </p:txBody>
      </p:sp>
      <p:sp>
        <p:nvSpPr>
          <p:cNvPr id="48" name="Shape 48"/>
          <p:cNvSpPr/>
          <p:nvPr/>
        </p:nvSpPr>
        <p:spPr>
          <a:xfrm>
            <a:off x="6291475" y="5605000"/>
            <a:ext cx="1350000" cy="330000"/>
          </a:xfrm>
          <a:prstGeom prst="roundRect">
            <a:avLst>
              <a:gd name="adj" fmla="val 50000"/>
            </a:avLst>
          </a:prstGeom>
          <a:solidFill>
            <a:srgbClr val="E6F7FF"/>
          </a:solidFill>
          <a:ln w="9525">
            <a:solidFill>
              <a:srgbClr val="B3D5E4"/>
            </a:solidFill>
            <a:prstDash val="solid"/>
          </a:ln>
        </p:spPr>
      </p:sp>
      <p:sp>
        <p:nvSpPr>
          <p:cNvPr id="49" name="Text 49"/>
          <p:cNvSpPr txBox="1"/>
          <p:nvPr/>
        </p:nvSpPr>
        <p:spPr>
          <a:xfrm>
            <a:off x="6291475" y="5605000"/>
            <a:ext cx="135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Progress</a:t>
            </a:r>
          </a:p>
        </p:txBody>
      </p:sp>
      <p:sp>
        <p:nvSpPr>
          <p:cNvPr id="50" name="Shape 50"/>
          <p:cNvSpPr/>
          <p:nvPr/>
        </p:nvSpPr>
        <p:spPr>
          <a:xfrm>
            <a:off x="8111475" y="1700000"/>
            <a:ext cx="3419095" cy="1363333"/>
          </a:xfrm>
          <a:prstGeom prst="roundRect">
            <a:avLst>
              <a:gd name="adj" fmla="val 12000"/>
            </a:avLst>
          </a:prstGeom>
          <a:solidFill>
            <a:srgbClr val="E6F7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51" name="Text 51"/>
          <p:cNvSpPr txBox="1"/>
          <p:nvPr/>
        </p:nvSpPr>
        <p:spPr>
          <a:xfrm>
            <a:off x="8331475" y="1850000"/>
            <a:ext cx="2979095" cy="106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3200" spc="-3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6</a:t>
            </a:r>
          </a:p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front-end modules live</a:t>
            </a:r>
          </a:p>
          <a:p>
            <a:pPr algn="l"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Dashboard, Transactions, Explorer, Agent AI, Policy Engine, Profile</a:t>
            </a:r>
          </a:p>
        </p:txBody>
      </p:sp>
      <p:sp>
        <p:nvSpPr>
          <p:cNvPr id="52" name="Shape 52"/>
          <p:cNvSpPr/>
          <p:nvPr/>
        </p:nvSpPr>
        <p:spPr>
          <a:xfrm>
            <a:off x="8111475" y="3213333"/>
            <a:ext cx="3419095" cy="1363333"/>
          </a:xfrm>
          <a:prstGeom prst="roundRect">
            <a:avLst>
              <a:gd name="adj" fmla="val 12000"/>
            </a:avLst>
          </a:prstGeom>
          <a:solidFill>
            <a:srgbClr val="E6F7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53" name="Text 53"/>
          <p:cNvSpPr txBox="1"/>
          <p:nvPr/>
        </p:nvSpPr>
        <p:spPr>
          <a:xfrm>
            <a:off x="8331475" y="3363333"/>
            <a:ext cx="2979095" cy="106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3200" spc="-3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 / 6</a:t>
            </a:r>
          </a:p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phases completed</a:t>
            </a:r>
          </a:p>
          <a:p>
            <a:pPr algn="l"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Remaining four phases are actively in progress</a:t>
            </a:r>
          </a:p>
        </p:txBody>
      </p:sp>
      <p:sp>
        <p:nvSpPr>
          <p:cNvPr id="54" name="Shape 54"/>
          <p:cNvSpPr/>
          <p:nvPr/>
        </p:nvSpPr>
        <p:spPr>
          <a:xfrm>
            <a:off x="8111475" y="4726666"/>
            <a:ext cx="3419095" cy="1363333"/>
          </a:xfrm>
          <a:prstGeom prst="roundRect">
            <a:avLst>
              <a:gd name="adj" fmla="val 12000"/>
            </a:avLst>
          </a:prstGeom>
          <a:solidFill>
            <a:srgbClr val="E6F7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55" name="Text 55"/>
          <p:cNvSpPr txBox="1"/>
          <p:nvPr/>
        </p:nvSpPr>
        <p:spPr>
          <a:xfrm>
            <a:off x="8331475" y="4876666"/>
            <a:ext cx="2979095" cy="106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3200" spc="-3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Live</a:t>
            </a:r>
          </a:p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 Vercel</a:t>
            </a:r>
          </a:p>
          <a:p>
            <a:pPr algn="l" indent="0" marL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blockchainhacathon.vercel.app, running in sandbox mode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rchitecture Mapp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661475" y="560000"/>
            <a:ext cx="98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3250" spc="-3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Architecture to Implementation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61475" y="1200000"/>
            <a:ext cx="99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each planned microservice now appears in the working front-end of BlockPay AI.</a:t>
            </a:r>
          </a:p>
        </p:txBody>
      </p:sp>
      <p:pic>
        <p:nvPicPr>
          <p:cNvPr id="13" name="Image 13" descr="KLH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3304" y="500000"/>
            <a:ext cx="713266" cy="713284"/>
          </a:xfrm>
          <a:prstGeom prst="rect">
            <a:avLst/>
          </a:prstGeom>
        </p:spPr>
      </p:pic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661475" y="1720000"/>
          <a:ext cx="10870000" cy="4160000"/>
        </p:xfrm>
        <a:graphic>
          <a:graphicData uri="http://schemas.openxmlformats.org/drawingml/2006/table">
            <a:tbl>
              <a:tblPr firstRow="1"/>
              <a:tblGrid>
                <a:gridCol w="2900000"/>
                <a:gridCol w="6070000"/>
                <a:gridCol w="1900000"/>
              </a:tblGrid>
              <a:tr h="52000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Planned Service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Implemented Front-end Feature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Status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Authentication Service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OTP login, verified profile, UPI ID and UPI PIN management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Completed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Transaction Service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Pay / Send, Scan QR, Receive via QR, ledger with filters, search and PDF export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Completed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Budget Service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Spending Policy Engine: daily and per-transaction limits, whitelist, blacklist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Completed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AI Analysis Service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Agent Commerce AI (Gemini) with category breakdown and daily spend vs limit charts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 Progress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Notification Service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Notification centre in the header for alerts and reminders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 Progress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Interactive Dashboard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Unified home: balance, wallet, quick actions and shortcut tiles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Completed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5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Blockchain Layer (added)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Algorand TestNet wallet, block-referenced transactions, explorer, x402 protocol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Simulated</a:t>
                      </a:r>
                    </a:p>
                  </a:txBody>
                  <a:tcPr marL="129950" marR="129950" marT="45720" marB="45720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661475" y="560000"/>
            <a:ext cx="98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3250" spc="-3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Front-end Implementation: Dashboard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61475" y="1200000"/>
            <a:ext cx="99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home screen brings balance, wallet and every core action together in one place.</a:t>
            </a:r>
          </a:p>
        </p:txBody>
      </p:sp>
      <p:pic>
        <p:nvPicPr>
          <p:cNvPr id="13" name="Image 13" descr="KLH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3304" y="500000"/>
            <a:ext cx="713266" cy="713284"/>
          </a:xfrm>
          <a:prstGeom prst="rect">
            <a:avLst/>
          </a:prstGeom>
        </p:spPr>
      </p:pic>
      <p:pic>
        <p:nvPicPr>
          <p:cNvPr id="14" name="Image 14" descr="Screenshot: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95485"/>
            <a:ext cx="7050000" cy="3479029"/>
          </a:xfrm>
          <a:prstGeom prst="roundRect">
            <a:avLst>
              <a:gd name="adj" fmla="val 3000"/>
            </a:avLst>
          </a:prstGeom>
          <a:ln w="19050">
            <a:solidFill>
              <a:srgbClr val="B3D5E4"/>
            </a:solidFill>
          </a:ln>
        </p:spPr>
      </p:pic>
      <p:sp>
        <p:nvSpPr>
          <p:cNvPr id="15" name="Text 15"/>
          <p:cNvSpPr txBox="1"/>
          <p:nvPr/>
        </p:nvSpPr>
        <p:spPr>
          <a:xfrm>
            <a:off x="661475" y="5684514"/>
            <a:ext cx="705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deployment: blockchainhacathon.vercel.app</a:t>
            </a:r>
          </a:p>
        </p:txBody>
      </p:sp>
      <p:sp>
        <p:nvSpPr>
          <p:cNvPr id="16" name="Shape 16"/>
          <p:cNvSpPr/>
          <p:nvPr/>
        </p:nvSpPr>
        <p:spPr>
          <a:xfrm>
            <a:off x="8041475" y="1700000"/>
            <a:ext cx="3489095" cy="1037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7" name="Shape 17"/>
          <p:cNvSpPr/>
          <p:nvPr/>
        </p:nvSpPr>
        <p:spPr>
          <a:xfrm>
            <a:off x="8211475" y="202875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8" name="Text 18"/>
          <p:cNvSpPr txBox="1"/>
          <p:nvPr/>
        </p:nvSpPr>
        <p:spPr>
          <a:xfrm>
            <a:off x="8211475" y="202875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761475" y="1820000"/>
            <a:ext cx="2599095" cy="7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Balance &amp; Wallet</a:t>
            </a:r>
          </a:p>
          <a:p>
            <a:pPr algn="l"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Available liquidity (₹25,000) with hide toggle and the linked Algorand TestNet wallet</a:t>
            </a:r>
          </a:p>
        </p:txBody>
      </p:sp>
      <p:sp>
        <p:nvSpPr>
          <p:cNvPr id="20" name="Shape 20"/>
          <p:cNvSpPr/>
          <p:nvPr/>
        </p:nvSpPr>
        <p:spPr>
          <a:xfrm>
            <a:off x="8041475" y="2887500"/>
            <a:ext cx="3489095" cy="1037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1" name="Shape 21"/>
          <p:cNvSpPr/>
          <p:nvPr/>
        </p:nvSpPr>
        <p:spPr>
          <a:xfrm>
            <a:off x="8211475" y="321625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8211475" y="321625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8761475" y="3007500"/>
            <a:ext cx="2599095" cy="7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One-tap Actions</a:t>
            </a:r>
          </a:p>
          <a:p>
            <a:pPr algn="l"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Pay / Send, Scan QR, My QR and Agent AI buttons</a:t>
            </a:r>
          </a:p>
        </p:txBody>
      </p:sp>
      <p:sp>
        <p:nvSpPr>
          <p:cNvPr id="24" name="Shape 24"/>
          <p:cNvSpPr/>
          <p:nvPr/>
        </p:nvSpPr>
        <p:spPr>
          <a:xfrm>
            <a:off x="8041475" y="4075000"/>
            <a:ext cx="3489095" cy="1037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5" name="Shape 25"/>
          <p:cNvSpPr/>
          <p:nvPr/>
        </p:nvSpPr>
        <p:spPr>
          <a:xfrm>
            <a:off x="8211475" y="440375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8211475" y="440375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761475" y="4195000"/>
            <a:ext cx="2599095" cy="7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Shortcut Tiles</a:t>
            </a:r>
          </a:p>
          <a:p>
            <a:pPr algn="l"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Pay Friend, Receive via QR, Agent AI Pay, Policy Engine, Algorand Ledger</a:t>
            </a:r>
          </a:p>
        </p:txBody>
      </p:sp>
      <p:sp>
        <p:nvSpPr>
          <p:cNvPr id="28" name="Shape 28"/>
          <p:cNvSpPr/>
          <p:nvPr/>
        </p:nvSpPr>
        <p:spPr>
          <a:xfrm>
            <a:off x="8041475" y="5262500"/>
            <a:ext cx="3489095" cy="1037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9" name="Shape 29"/>
          <p:cNvSpPr/>
          <p:nvPr/>
        </p:nvSpPr>
        <p:spPr>
          <a:xfrm>
            <a:off x="8211475" y="559125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8211475" y="559125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8761475" y="5382500"/>
            <a:ext cx="2599095" cy="7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Clear Demo Mode</a:t>
            </a:r>
          </a:p>
          <a:p>
            <a:pPr algn="l"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Simulation banner, OTP login and verified user badge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ansaction Led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661475" y="560000"/>
            <a:ext cx="98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3250" spc="-3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Transaction Ledger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61475" y="1200000"/>
            <a:ext cx="99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payment is recorded, searchable and linked to an Algorand TestNet block.</a:t>
            </a:r>
          </a:p>
        </p:txBody>
      </p:sp>
      <p:pic>
        <p:nvPicPr>
          <p:cNvPr id="13" name="Image 13" descr="KLH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3304" y="500000"/>
            <a:ext cx="713266" cy="713284"/>
          </a:xfrm>
          <a:prstGeom prst="rect">
            <a:avLst/>
          </a:prstGeom>
        </p:spPr>
      </p:pic>
      <p:pic>
        <p:nvPicPr>
          <p:cNvPr id="14" name="Image 14" descr="Screenshot: Transaction Ledg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70" y="2263725"/>
            <a:ext cx="7050000" cy="3142549"/>
          </a:xfrm>
          <a:prstGeom prst="roundRect">
            <a:avLst>
              <a:gd name="adj" fmla="val 3000"/>
            </a:avLst>
          </a:prstGeom>
          <a:ln w="19050">
            <a:solidFill>
              <a:srgbClr val="B3D5E4"/>
            </a:solidFill>
          </a:ln>
        </p:spPr>
      </p:pic>
      <p:sp>
        <p:nvSpPr>
          <p:cNvPr id="15" name="Text 15"/>
          <p:cNvSpPr txBox="1"/>
          <p:nvPr/>
        </p:nvSpPr>
        <p:spPr>
          <a:xfrm>
            <a:off x="4480570" y="5516274"/>
            <a:ext cx="705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Credits in green, debits in red, including x402 agent API calls</a:t>
            </a:r>
          </a:p>
        </p:txBody>
      </p:sp>
      <p:sp>
        <p:nvSpPr>
          <p:cNvPr id="16" name="Shape 16"/>
          <p:cNvSpPr/>
          <p:nvPr/>
        </p:nvSpPr>
        <p:spPr>
          <a:xfrm>
            <a:off x="661475" y="1700000"/>
            <a:ext cx="3489095" cy="1037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7" name="Shape 17"/>
          <p:cNvSpPr/>
          <p:nvPr/>
        </p:nvSpPr>
        <p:spPr>
          <a:xfrm>
            <a:off x="831475" y="202875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8" name="Text 18"/>
          <p:cNvSpPr txBox="1"/>
          <p:nvPr/>
        </p:nvSpPr>
        <p:spPr>
          <a:xfrm>
            <a:off x="831475" y="202875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381475" y="1820000"/>
            <a:ext cx="2599095" cy="7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Block-verified Records</a:t>
            </a:r>
          </a:p>
          <a:p>
            <a:pPr algn="l"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entry shows the block number, timestamp and a Verified badge</a:t>
            </a:r>
          </a:p>
        </p:txBody>
      </p:sp>
      <p:sp>
        <p:nvSpPr>
          <p:cNvPr id="20" name="Shape 20"/>
          <p:cNvSpPr/>
          <p:nvPr/>
        </p:nvSpPr>
        <p:spPr>
          <a:xfrm>
            <a:off x="661475" y="2887500"/>
            <a:ext cx="3489095" cy="1037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1" name="Shape 21"/>
          <p:cNvSpPr/>
          <p:nvPr/>
        </p:nvSpPr>
        <p:spPr>
          <a:xfrm>
            <a:off x="831475" y="321625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831475" y="321625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381475" y="3007500"/>
            <a:ext cx="2599095" cy="7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Smart Filters</a:t>
            </a:r>
          </a:p>
          <a:p>
            <a:pPr algn="l"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All, Today, Yesterday, This Week, Money In and Money Out</a:t>
            </a:r>
          </a:p>
        </p:txBody>
      </p:sp>
      <p:sp>
        <p:nvSpPr>
          <p:cNvPr id="24" name="Shape 24"/>
          <p:cNvSpPr/>
          <p:nvPr/>
        </p:nvSpPr>
        <p:spPr>
          <a:xfrm>
            <a:off x="661475" y="4075000"/>
            <a:ext cx="3489095" cy="1037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5" name="Shape 25"/>
          <p:cNvSpPr/>
          <p:nvPr/>
        </p:nvSpPr>
        <p:spPr>
          <a:xfrm>
            <a:off x="831475" y="440375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831475" y="440375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381475" y="4195000"/>
            <a:ext cx="2599095" cy="7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Instant Search</a:t>
            </a:r>
          </a:p>
          <a:p>
            <a:pPr algn="l"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Filter by name, UPI ID, note or transaction ID</a:t>
            </a:r>
          </a:p>
        </p:txBody>
      </p:sp>
      <p:sp>
        <p:nvSpPr>
          <p:cNvPr id="28" name="Shape 28"/>
          <p:cNvSpPr/>
          <p:nvPr/>
        </p:nvSpPr>
        <p:spPr>
          <a:xfrm>
            <a:off x="661475" y="5262500"/>
            <a:ext cx="3489095" cy="1037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9" name="Shape 29"/>
          <p:cNvSpPr/>
          <p:nvPr/>
        </p:nvSpPr>
        <p:spPr>
          <a:xfrm>
            <a:off x="831475" y="559125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831475" y="559125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1381475" y="5382500"/>
            <a:ext cx="2599095" cy="7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PDF Statement</a:t>
            </a:r>
          </a:p>
          <a:p>
            <a:pPr algn="l"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Export the full history as a statement in one click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olicy En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661475" y="560000"/>
            <a:ext cx="98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3250" spc="-3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Spending Policy Engine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61475" y="1200000"/>
            <a:ext cx="99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Automated budget and security rules checked before any x402 payment is authorised.</a:t>
            </a:r>
          </a:p>
        </p:txBody>
      </p:sp>
      <p:pic>
        <p:nvPicPr>
          <p:cNvPr id="13" name="Image 13" descr="KLH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3304" y="500000"/>
            <a:ext cx="713266" cy="713284"/>
          </a:xfrm>
          <a:prstGeom prst="rect">
            <a:avLst/>
          </a:prstGeom>
        </p:spPr>
      </p:pic>
      <p:pic>
        <p:nvPicPr>
          <p:cNvPr id="14" name="Image 14" descr="Screenshot: Policy 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33176"/>
            <a:ext cx="5300000" cy="4533648"/>
          </a:xfrm>
          <a:prstGeom prst="roundRect">
            <a:avLst>
              <a:gd name="adj" fmla="val 3000"/>
            </a:avLst>
          </a:prstGeom>
          <a:ln w="19050">
            <a:solidFill>
              <a:srgbClr val="B3D5E4"/>
            </a:solidFill>
          </a:ln>
        </p:spPr>
      </p:pic>
      <p:sp>
        <p:nvSpPr>
          <p:cNvPr id="15" name="Shape 15"/>
          <p:cNvSpPr/>
          <p:nvPr/>
        </p:nvSpPr>
        <p:spPr>
          <a:xfrm>
            <a:off x="6291475" y="1700000"/>
            <a:ext cx="5239095" cy="1037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6" name="Shape 16"/>
          <p:cNvSpPr/>
          <p:nvPr/>
        </p:nvSpPr>
        <p:spPr>
          <a:xfrm>
            <a:off x="6461475" y="202875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7" name="Text 17"/>
          <p:cNvSpPr txBox="1"/>
          <p:nvPr/>
        </p:nvSpPr>
        <p:spPr>
          <a:xfrm>
            <a:off x="6461475" y="202875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7011475" y="1820000"/>
            <a:ext cx="4349095" cy="7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Spending Limits</a:t>
            </a:r>
          </a:p>
          <a:p>
            <a:pPr algn="l"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Max daily limit ₹1,00,000 and single-transaction limit ₹50,000</a:t>
            </a:r>
          </a:p>
        </p:txBody>
      </p:sp>
      <p:sp>
        <p:nvSpPr>
          <p:cNvPr id="19" name="Shape 19"/>
          <p:cNvSpPr/>
          <p:nvPr/>
        </p:nvSpPr>
        <p:spPr>
          <a:xfrm>
            <a:off x="6291475" y="2887500"/>
            <a:ext cx="5239095" cy="1037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0" name="Shape 20"/>
          <p:cNvSpPr/>
          <p:nvPr/>
        </p:nvSpPr>
        <p:spPr>
          <a:xfrm>
            <a:off x="6461475" y="321625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1" name="Text 21"/>
          <p:cNvSpPr txBox="1"/>
          <p:nvPr/>
        </p:nvSpPr>
        <p:spPr>
          <a:xfrm>
            <a:off x="6461475" y="321625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011475" y="3007500"/>
            <a:ext cx="4349095" cy="7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Trusted Whitelist</a:t>
            </a:r>
          </a:p>
          <a:p>
            <a:pPr algn="l"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Approved recipients such as saha@ibl, sahasra@blockpay and coffee@ibl</a:t>
            </a:r>
          </a:p>
        </p:txBody>
      </p:sp>
      <p:sp>
        <p:nvSpPr>
          <p:cNvPr id="23" name="Shape 23"/>
          <p:cNvSpPr/>
          <p:nvPr/>
        </p:nvSpPr>
        <p:spPr>
          <a:xfrm>
            <a:off x="6291475" y="4075000"/>
            <a:ext cx="5239095" cy="1037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4" name="Shape 24"/>
          <p:cNvSpPr/>
          <p:nvPr/>
        </p:nvSpPr>
        <p:spPr>
          <a:xfrm>
            <a:off x="6461475" y="440375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6461475" y="440375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7011475" y="4195000"/>
            <a:ext cx="4349095" cy="7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Blocked Blacklist</a:t>
            </a:r>
          </a:p>
          <a:p>
            <a:pPr algn="l"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Suspicious accounts (e.g. scammer@blockpay) are refused automatically</a:t>
            </a:r>
          </a:p>
        </p:txBody>
      </p:sp>
      <p:sp>
        <p:nvSpPr>
          <p:cNvPr id="27" name="Shape 27"/>
          <p:cNvSpPr/>
          <p:nvPr/>
        </p:nvSpPr>
        <p:spPr>
          <a:xfrm>
            <a:off x="6291475" y="5262500"/>
            <a:ext cx="5239095" cy="1037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8" name="Shape 28"/>
          <p:cNvSpPr/>
          <p:nvPr/>
        </p:nvSpPr>
        <p:spPr>
          <a:xfrm>
            <a:off x="6461475" y="559125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6461475" y="559125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7011475" y="5382500"/>
            <a:ext cx="4349095" cy="7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Budget Service in Action</a:t>
            </a:r>
          </a:p>
          <a:p>
            <a:pPr algn="l"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Delivers the budget-monitoring and anomaly-guard objectives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t Commerce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661475" y="560000"/>
            <a:ext cx="98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3250" spc="-3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Agent Commerce AI &amp; Analytics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61475" y="1200000"/>
            <a:ext cx="99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assistant and spending analytics for autonomous machine payments.</a:t>
            </a:r>
          </a:p>
        </p:txBody>
      </p:sp>
      <p:pic>
        <p:nvPicPr>
          <p:cNvPr id="13" name="Image 13" descr="KLH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3304" y="500000"/>
            <a:ext cx="713266" cy="713284"/>
          </a:xfrm>
          <a:prstGeom prst="rect">
            <a:avLst/>
          </a:prstGeom>
        </p:spPr>
      </p:pic>
      <p:pic>
        <p:nvPicPr>
          <p:cNvPr id="14" name="Image 14" descr="Screenshot: Agent Commerce A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70" y="2017990"/>
            <a:ext cx="7050000" cy="3634020"/>
          </a:xfrm>
          <a:prstGeom prst="roundRect">
            <a:avLst>
              <a:gd name="adj" fmla="val 3000"/>
            </a:avLst>
          </a:prstGeom>
          <a:ln w="19050">
            <a:solidFill>
              <a:srgbClr val="B3D5E4"/>
            </a:solidFill>
          </a:ln>
        </p:spPr>
      </p:pic>
      <p:sp>
        <p:nvSpPr>
          <p:cNvPr id="15" name="Text 15"/>
          <p:cNvSpPr txBox="1"/>
          <p:nvPr/>
        </p:nvSpPr>
        <p:spPr>
          <a:xfrm>
            <a:off x="4480570" y="5762010"/>
            <a:ext cx="705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0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Delivers the AI-driven insights objective</a:t>
            </a:r>
          </a:p>
        </p:txBody>
      </p:sp>
      <p:sp>
        <p:nvSpPr>
          <p:cNvPr id="16" name="Shape 16"/>
          <p:cNvSpPr/>
          <p:nvPr/>
        </p:nvSpPr>
        <p:spPr>
          <a:xfrm>
            <a:off x="661475" y="1700000"/>
            <a:ext cx="3489095" cy="1037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7" name="Shape 17"/>
          <p:cNvSpPr/>
          <p:nvPr/>
        </p:nvSpPr>
        <p:spPr>
          <a:xfrm>
            <a:off x="831475" y="202875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8" name="Text 18"/>
          <p:cNvSpPr txBox="1"/>
          <p:nvPr/>
        </p:nvSpPr>
        <p:spPr>
          <a:xfrm>
            <a:off x="831475" y="202875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381475" y="1820000"/>
            <a:ext cx="2599095" cy="7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BlockPay AI Assistant</a:t>
            </a:r>
          </a:p>
          <a:p>
            <a:pPr algn="l"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Powered by Gemini 3.6 Flash for intelligent spending checks</a:t>
            </a:r>
          </a:p>
        </p:txBody>
      </p:sp>
      <p:sp>
        <p:nvSpPr>
          <p:cNvPr id="20" name="Shape 20"/>
          <p:cNvSpPr/>
          <p:nvPr/>
        </p:nvSpPr>
        <p:spPr>
          <a:xfrm>
            <a:off x="661475" y="2887500"/>
            <a:ext cx="3489095" cy="1037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1" name="Shape 21"/>
          <p:cNvSpPr/>
          <p:nvPr/>
        </p:nvSpPr>
        <p:spPr>
          <a:xfrm>
            <a:off x="831475" y="321625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831475" y="321625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381475" y="3007500"/>
            <a:ext cx="2599095" cy="7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x402 Agent Payments</a:t>
            </a:r>
          </a:p>
          <a:p>
            <a:pPr algn="l"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Machine-to-machine payments, e.g. a ₹150 Agent Compute API call</a:t>
            </a:r>
          </a:p>
        </p:txBody>
      </p:sp>
      <p:sp>
        <p:nvSpPr>
          <p:cNvPr id="24" name="Shape 24"/>
          <p:cNvSpPr/>
          <p:nvPr/>
        </p:nvSpPr>
        <p:spPr>
          <a:xfrm>
            <a:off x="661475" y="4075000"/>
            <a:ext cx="3489095" cy="1037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5" name="Shape 25"/>
          <p:cNvSpPr/>
          <p:nvPr/>
        </p:nvSpPr>
        <p:spPr>
          <a:xfrm>
            <a:off x="831475" y="440375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831475" y="440375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381475" y="4195000"/>
            <a:ext cx="2599095" cy="7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Category Breakdown</a:t>
            </a:r>
          </a:p>
          <a:p>
            <a:pPr algn="l"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Monthly donut chart split by category (AI Service, Food)</a:t>
            </a:r>
          </a:p>
        </p:txBody>
      </p:sp>
      <p:sp>
        <p:nvSpPr>
          <p:cNvPr id="28" name="Shape 28"/>
          <p:cNvSpPr/>
          <p:nvPr/>
        </p:nvSpPr>
        <p:spPr>
          <a:xfrm>
            <a:off x="661475" y="5262500"/>
            <a:ext cx="3489095" cy="1037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9" name="Shape 29"/>
          <p:cNvSpPr/>
          <p:nvPr/>
        </p:nvSpPr>
        <p:spPr>
          <a:xfrm>
            <a:off x="831475" y="559125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831475" y="559125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1381475" y="5382500"/>
            <a:ext cx="2599095" cy="7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Daily Spend vs Limit</a:t>
            </a:r>
          </a:p>
          <a:p>
            <a:pPr algn="l"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 to Sun bar chart measured against the ₹1,00,000 limit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file and Wa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661475" y="560000"/>
            <a:ext cx="98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3250" spc="-3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User Profile &amp; Algorand Wallet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61475" y="1200000"/>
            <a:ext cx="99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Identity, security settings and the blockchain wallet on one screen.</a:t>
            </a:r>
          </a:p>
        </p:txBody>
      </p:sp>
      <p:pic>
        <p:nvPicPr>
          <p:cNvPr id="13" name="Image 13" descr="KLH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3304" y="500000"/>
            <a:ext cx="713266" cy="713284"/>
          </a:xfrm>
          <a:prstGeom prst="rect">
            <a:avLst/>
          </a:prstGeom>
        </p:spPr>
      </p:pic>
      <p:pic>
        <p:nvPicPr>
          <p:cNvPr id="14" name="Image 14" descr="Screenshot: Profile and Wall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29768"/>
            <a:ext cx="7050000" cy="3340464"/>
          </a:xfrm>
          <a:prstGeom prst="roundRect">
            <a:avLst>
              <a:gd name="adj" fmla="val 3000"/>
            </a:avLst>
          </a:prstGeom>
          <a:ln w="19050">
            <a:solidFill>
              <a:srgbClr val="B3D5E4"/>
            </a:solidFill>
          </a:ln>
        </p:spPr>
      </p:pic>
      <p:sp>
        <p:nvSpPr>
          <p:cNvPr id="15" name="Shape 15"/>
          <p:cNvSpPr/>
          <p:nvPr/>
        </p:nvSpPr>
        <p:spPr>
          <a:xfrm>
            <a:off x="8041475" y="1700000"/>
            <a:ext cx="3489095" cy="1037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6" name="Shape 16"/>
          <p:cNvSpPr/>
          <p:nvPr/>
        </p:nvSpPr>
        <p:spPr>
          <a:xfrm>
            <a:off x="8211475" y="202875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7" name="Text 17"/>
          <p:cNvSpPr txBox="1"/>
          <p:nvPr/>
        </p:nvSpPr>
        <p:spPr>
          <a:xfrm>
            <a:off x="8211475" y="202875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761475" y="1820000"/>
            <a:ext cx="2599095" cy="7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Verified Identity</a:t>
            </a:r>
          </a:p>
          <a:p>
            <a:pPr algn="l"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Name, UPI ID (manu@ibl), phone number and bank account</a:t>
            </a:r>
          </a:p>
        </p:txBody>
      </p:sp>
      <p:sp>
        <p:nvSpPr>
          <p:cNvPr id="19" name="Shape 19"/>
          <p:cNvSpPr/>
          <p:nvPr/>
        </p:nvSpPr>
        <p:spPr>
          <a:xfrm>
            <a:off x="8041475" y="2887500"/>
            <a:ext cx="3489095" cy="1037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0" name="Shape 20"/>
          <p:cNvSpPr/>
          <p:nvPr/>
        </p:nvSpPr>
        <p:spPr>
          <a:xfrm>
            <a:off x="8211475" y="321625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1" name="Text 21"/>
          <p:cNvSpPr txBox="1"/>
          <p:nvPr/>
        </p:nvSpPr>
        <p:spPr>
          <a:xfrm>
            <a:off x="8211475" y="321625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761475" y="3007500"/>
            <a:ext cx="2599095" cy="7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Security Configuration</a:t>
            </a:r>
          </a:p>
          <a:p>
            <a:pPr algn="l"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Limits, 3 verified contacts, UPI PIN set, with Change UPI PIN</a:t>
            </a:r>
          </a:p>
        </p:txBody>
      </p:sp>
      <p:sp>
        <p:nvSpPr>
          <p:cNvPr id="23" name="Shape 23"/>
          <p:cNvSpPr/>
          <p:nvPr/>
        </p:nvSpPr>
        <p:spPr>
          <a:xfrm>
            <a:off x="8041475" y="4075000"/>
            <a:ext cx="3489095" cy="1037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4" name="Shape 24"/>
          <p:cNvSpPr/>
          <p:nvPr/>
        </p:nvSpPr>
        <p:spPr>
          <a:xfrm>
            <a:off x="8211475" y="440375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5" name="Text 25"/>
          <p:cNvSpPr txBox="1"/>
          <p:nvPr/>
        </p:nvSpPr>
        <p:spPr>
          <a:xfrm>
            <a:off x="8211475" y="440375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761475" y="4195000"/>
            <a:ext cx="2599095" cy="7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Algorand TestNet Wallet</a:t>
            </a:r>
          </a:p>
          <a:p>
            <a:pPr algn="l"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Public address with a scannable QR code for receiving funds</a:t>
            </a:r>
          </a:p>
        </p:txBody>
      </p:sp>
      <p:sp>
        <p:nvSpPr>
          <p:cNvPr id="27" name="Shape 27"/>
          <p:cNvSpPr/>
          <p:nvPr/>
        </p:nvSpPr>
        <p:spPr>
          <a:xfrm>
            <a:off x="8041475" y="5262500"/>
            <a:ext cx="3489095" cy="1037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8" name="Shape 28"/>
          <p:cNvSpPr/>
          <p:nvPr/>
        </p:nvSpPr>
        <p:spPr>
          <a:xfrm>
            <a:off x="8211475" y="5591250"/>
            <a:ext cx="380000" cy="38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8211475" y="559125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761475" y="5382500"/>
            <a:ext cx="2599095" cy="7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spc="-1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Configure Policy Rules</a:t>
            </a:r>
          </a:p>
          <a:p>
            <a:pPr algn="l" indent="0" marL="0">
              <a:lnSpc>
                <a:spcPct val="118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Direct link into the Spending Policy Engine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661475" y="560000"/>
            <a:ext cx="98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0"/>
              </a:spcAft>
              <a:buNone/>
            </a:pPr>
            <a:r>
              <a:rPr lang="en-US" sz="3250" spc="-3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Progress Summary &amp; Next Steps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61475" y="1200000"/>
            <a:ext cx="99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0"/>
              </a:spcAft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has been delivered so far and the work planned for the next review.</a:t>
            </a:r>
          </a:p>
        </p:txBody>
      </p:sp>
      <p:pic>
        <p:nvPicPr>
          <p:cNvPr id="13" name="Image 13" descr="KLH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3304" y="500000"/>
            <a:ext cx="713266" cy="713284"/>
          </a:xfrm>
          <a:prstGeom prst="rect">
            <a:avLst/>
          </a:prstGeom>
        </p:spPr>
      </p:pic>
      <p:sp>
        <p:nvSpPr>
          <p:cNvPr id="14" name="Shape 14"/>
          <p:cNvSpPr/>
          <p:nvPr/>
        </p:nvSpPr>
        <p:spPr>
          <a:xfrm>
            <a:off x="661475" y="1700000"/>
            <a:ext cx="5269547" cy="4600000"/>
          </a:xfrm>
          <a:prstGeom prst="roundRect">
            <a:avLst>
              <a:gd name="adj" fmla="val 6000"/>
            </a:avLst>
          </a:prstGeom>
          <a:solidFill>
            <a:srgbClr val="E6F7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5" name="Shape 15"/>
          <p:cNvSpPr/>
          <p:nvPr/>
        </p:nvSpPr>
        <p:spPr>
          <a:xfrm>
            <a:off x="941475" y="1960000"/>
            <a:ext cx="440000" cy="44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941475" y="1960000"/>
            <a:ext cx="44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521475" y="1960000"/>
            <a:ext cx="4169547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spc="-2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Achieved So Far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961475" y="2650000"/>
            <a:ext cx="4669547" cy="3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5000"/>
              </a:lnSpc>
              <a:spcAft>
                <a:spcPts val="900"/>
              </a:spcAft>
              <a:buClr>
                <a:srgbClr val="5B6E8C"/>
              </a:buClr>
              <a:buFont typeface="Arial"/>
              <a:buChar char="•"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Requirements, literature survey and microservices architecture finalised</a:t>
            </a:r>
          </a:p>
          <a:p>
            <a:pPr marL="228600" indent="-228600" algn="l">
              <a:lnSpc>
                <a:spcPct val="125000"/>
              </a:lnSpc>
              <a:spcAft>
                <a:spcPts val="900"/>
              </a:spcAft>
              <a:buClr>
                <a:srgbClr val="5B6E8C"/>
              </a:buClr>
              <a:buFont typeface="Arial"/>
              <a:buChar char="•"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Six-module front-end built and deployed live on Vercel</a:t>
            </a:r>
          </a:p>
          <a:p>
            <a:pPr marL="228600" indent="-228600" algn="l">
              <a:lnSpc>
                <a:spcPct val="125000"/>
              </a:lnSpc>
              <a:spcAft>
                <a:spcPts val="900"/>
              </a:spcAft>
              <a:buClr>
                <a:srgbClr val="5B6E8C"/>
              </a:buClr>
              <a:buFont typeface="Arial"/>
              <a:buChar char="•"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Gemini-powered AI assistant and x402 agent payments demonstrated</a:t>
            </a:r>
          </a:p>
          <a:p>
            <a:pPr marL="228600" indent="-228600" algn="l">
              <a:lnSpc>
                <a:spcPct val="125000"/>
              </a:lnSpc>
              <a:spcAft>
                <a:spcPts val="900"/>
              </a:spcAft>
              <a:buClr>
                <a:srgbClr val="5B6E8C"/>
              </a:buClr>
              <a:buFont typeface="Arial"/>
              <a:buChar char="•"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Policy Engine enforcing daily limits, whitelist and blacklist</a:t>
            </a:r>
          </a:p>
          <a:p>
            <a:pPr marL="228600" indent="-228600" algn="l">
              <a:lnSpc>
                <a:spcPct val="125000"/>
              </a:lnSpc>
              <a:spcAft>
                <a:spcPts val="900"/>
              </a:spcAft>
              <a:buClr>
                <a:srgbClr val="5B6E8C"/>
              </a:buClr>
              <a:buFont typeface="Arial"/>
              <a:buChar char="•"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Transactions recorded with Algorand TestNet block references</a:t>
            </a:r>
          </a:p>
        </p:txBody>
      </p:sp>
      <p:sp>
        <p:nvSpPr>
          <p:cNvPr id="19" name="Shape 19"/>
          <p:cNvSpPr/>
          <p:nvPr/>
        </p:nvSpPr>
        <p:spPr>
          <a:xfrm>
            <a:off x="6261022" y="1700000"/>
            <a:ext cx="5269547" cy="4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0" name="Shape 20"/>
          <p:cNvSpPr/>
          <p:nvPr/>
        </p:nvSpPr>
        <p:spPr>
          <a:xfrm>
            <a:off x="6541022" y="1960000"/>
            <a:ext cx="440000" cy="44000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1" name="Text 21"/>
          <p:cNvSpPr txBox="1"/>
          <p:nvPr/>
        </p:nvSpPr>
        <p:spPr>
          <a:xfrm>
            <a:off x="6541022" y="1960000"/>
            <a:ext cx="44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121022" y="1960000"/>
            <a:ext cx="4169547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spc="-2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Next Steps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561022" y="2650000"/>
            <a:ext cx="4669547" cy="3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5000"/>
              </a:lnSpc>
              <a:spcAft>
                <a:spcPts val="900"/>
              </a:spcAft>
              <a:buClr>
                <a:srgbClr val="5B6E8C"/>
              </a:buClr>
              <a:buFont typeface="Arial"/>
              <a:buChar char="•"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Connect the front-end to the backend microservices through secure APIs</a:t>
            </a:r>
          </a:p>
          <a:p>
            <a:pPr marL="228600" indent="-228600" algn="l">
              <a:lnSpc>
                <a:spcPct val="125000"/>
              </a:lnSpc>
              <a:spcAft>
                <a:spcPts val="900"/>
              </a:spcAft>
              <a:buClr>
                <a:srgbClr val="5B6E8C"/>
              </a:buClr>
              <a:buFont typeface="Arial"/>
              <a:buChar char="•"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Train and integrate ML models for spending prediction and anomaly detection</a:t>
            </a:r>
          </a:p>
          <a:p>
            <a:pPr marL="228600" indent="-228600" algn="l">
              <a:lnSpc>
                <a:spcPct val="125000"/>
              </a:lnSpc>
              <a:spcAft>
                <a:spcPts val="900"/>
              </a:spcAft>
              <a:buClr>
                <a:srgbClr val="5B6E8C"/>
              </a:buClr>
              <a:buFont typeface="Arial"/>
              <a:buChar char="•"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Complete alerts in the Notification Service for limits and bills</a:t>
            </a:r>
          </a:p>
          <a:p>
            <a:pPr marL="228600" indent="-228600" algn="l">
              <a:lnSpc>
                <a:spcPct val="125000"/>
              </a:lnSpc>
              <a:spcAft>
                <a:spcPts val="900"/>
              </a:spcAft>
              <a:buClr>
                <a:srgbClr val="5B6E8C"/>
              </a:buClr>
              <a:buFont typeface="Arial"/>
              <a:buChar char="•"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Functional, performance and usability testing with real users</a:t>
            </a:r>
          </a:p>
          <a:p>
            <a:pPr marL="228600" indent="-228600" algn="l">
              <a:lnSpc>
                <a:spcPct val="125000"/>
              </a:lnSpc>
              <a:spcAft>
                <a:spcPts val="900"/>
              </a:spcAft>
              <a:buClr>
                <a:srgbClr val="5B6E8C"/>
              </a:buClr>
              <a:buFont typeface="Arial"/>
              <a:buChar char="•"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Finalise deployment and project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2026-09-21T10:06:06Z</dcterms:created>
  <dcterms:modified xsi:type="dcterms:W3CDTF">2026-09-21T10:06:06Z</dcterms:modified>
</cp:coreProperties>
</file>