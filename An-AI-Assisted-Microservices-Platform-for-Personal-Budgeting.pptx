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Alexandria"/>
      <p:regular r:id="rId201314"/>
    </p:embeddedFont>
    <p:embeddedFont>
      <p:font typeface="Alexandria Medium"/>
      <p:regular r:id="rId201315"/>
    </p:embeddedFont>
    <p:embeddedFont>
      <p:font typeface="Alexandria Bold"/>
      <p:regular r:id="rId201316"/>
    </p:embeddedFont>
    <p:embeddedFont>
      <p:font typeface="Manrope"/>
      <p:regular r:id="rId201317"/>
    </p:embeddedFont>
    <p:embeddedFont>
      <p:font typeface="Manrope Medium"/>
      <p:regular r:id="rId201318"/>
    </p:embeddedFont>
    <p:embeddedFont>
      <p:font typeface="Manrope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image" Target="../media/image-2-10.png"/><Relationship Id="rId11" Type="http://schemas.openxmlformats.org/officeDocument/2006/relationships/image" Target="../media/image-2-11.svg"/><Relationship Id="rId12" Type="http://schemas.openxmlformats.org/officeDocument/2006/relationships/image" Target="../media/image-2-12.png"/><Relationship Id="rId13" Type="http://schemas.openxmlformats.org/officeDocument/2006/relationships/image" Target="../media/image-2-13.svg"/><Relationship Id="rId14" Type="http://schemas.openxmlformats.org/officeDocument/2006/relationships/image" Target="../media/image-2-14.png"/><Relationship Id="rId15" Type="http://schemas.openxmlformats.org/officeDocument/2006/relationships/image" Target="../media/image-2-15.svg"/><Relationship Id="rId16" Type="http://schemas.openxmlformats.org/officeDocument/2006/relationships/image" Target="../media/image-2-16.png"/><Relationship Id="rId17" Type="http://schemas.openxmlformats.org/officeDocument/2006/relationships/image" Target="../media/image-2-17.svg"/><Relationship Id="rId18" Type="http://schemas.openxmlformats.org/officeDocument/2006/relationships/slideLayout" Target="../slideLayouts/slideLayout2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image" Target="../media/image-4-2.png"/><Relationship Id="rId11" Type="http://schemas.openxmlformats.org/officeDocument/2006/relationships/image" Target="../media/image-4-3.svg"/><Relationship Id="rId12" Type="http://schemas.openxmlformats.org/officeDocument/2006/relationships/image" Target="../media/image-4-2.png"/><Relationship Id="rId13" Type="http://schemas.openxmlformats.org/officeDocument/2006/relationships/image" Target="../media/image-4-3.svg"/><Relationship Id="rId14" Type="http://schemas.openxmlformats.org/officeDocument/2006/relationships/slideLayout" Target="../slideLayouts/slideLayout2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2.png"/><Relationship Id="rId5" Type="http://schemas.openxmlformats.org/officeDocument/2006/relationships/image" Target="../media/image-6-3.svg"/><Relationship Id="rId6" Type="http://schemas.openxmlformats.org/officeDocument/2006/relationships/image" Target="../media/image-6-2.png"/><Relationship Id="rId7" Type="http://schemas.openxmlformats.org/officeDocument/2006/relationships/image" Target="../media/image-6-3.svg"/><Relationship Id="rId8" Type="http://schemas.openxmlformats.org/officeDocument/2006/relationships/image" Target="../media/image-6-2.png"/><Relationship Id="rId9" Type="http://schemas.openxmlformats.org/officeDocument/2006/relationships/image" Target="../media/image-6-3.svg"/><Relationship Id="rId10" Type="http://schemas.openxmlformats.org/officeDocument/2006/relationships/image" Target="../media/image-6-2.png"/><Relationship Id="rId11" Type="http://schemas.openxmlformats.org/officeDocument/2006/relationships/image" Target="../media/image-6-3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5059" y="1221184"/>
            <a:ext cx="815161" cy="8151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31983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An AI-Assisted Microservices Platform for Personal Budgeting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954661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Under the Guidance of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Dr. KETINENI VENKATESWARI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[Title] Professor,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Department of Computer Science and Engineering,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KLH CSE Bowrampet Campus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332776" y="395466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Team Members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1. M.Aruna Grace (2420030100)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2. K.Sai Sree Chowdary (2420030168)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3. G.Manaswi (2420030182)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2422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661475" y="1628279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Outline of Project Work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661475" y="2407940"/>
            <a:ext cx="86458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stages and milestones in the development of the project.</a:t>
            </a:r>
            <a:endParaRPr lang="en-US" sz="14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6465" y="1651893"/>
            <a:ext cx="1050006" cy="1050032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27177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3835896"/>
            <a:ext cx="25399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Focus</a:t>
            </a:r>
            <a:endParaRPr lang="en-US" sz="1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37645" y="3127177"/>
            <a:ext cx="472468" cy="472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437645" y="383589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Introduction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13915" y="3127177"/>
            <a:ext cx="472468" cy="472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3915" y="3835896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18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90184" y="3127177"/>
            <a:ext cx="472468" cy="472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90184" y="3835896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Gap Identification</a:t>
            </a:r>
            <a:endParaRPr lang="en-US" sz="18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804470"/>
            <a:ext cx="472468" cy="472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1475" y="5513189"/>
            <a:ext cx="25399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Innovation, Creativity, and Novelty</a:t>
            </a:r>
            <a:endParaRPr lang="en-US" sz="185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37645" y="4804470"/>
            <a:ext cx="472468" cy="47248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437645" y="551318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185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13915" y="4804470"/>
            <a:ext cx="472468" cy="47248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213915" y="5513189"/>
            <a:ext cx="254003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185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90184" y="4804470"/>
            <a:ext cx="472468" cy="47248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8990184" y="5513189"/>
            <a:ext cx="254003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Feasibility and Project Plan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0031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Statement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99692"/>
            <a:ext cx="8036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Personal finance management is becoming harder as spending becomes more fragmented and harder to track.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3287216"/>
            <a:ext cx="10868745" cy="2239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Managing personal finances has become increasingly challenging due to multiple sources of income, frequent digital transactions, recurring expenses, savings goals, and the lack of a unified system for understanding spending behavior.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Traditional budgeting applications often provide only basic expense tracking and require users to manually analyze their financial data.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makes it difficult for individuals to identify unnecessary expenses, predict future spending, and make informed financial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2553"/>
            <a:ext cx="805070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spc="-33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03945"/>
            <a:ext cx="866029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objectives define the core capabilities and outcomes of the proposed personal budgeting system.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3304" y="760611"/>
            <a:ext cx="713266" cy="713284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44886"/>
            <a:ext cx="5362044" cy="13419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243281" y="206890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845819" y="2606377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design and implement a modular microservices architecture for personal budgeting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8176" y="1944886"/>
            <a:ext cx="5362044" cy="134193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49982" y="2068909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6352520" y="2606377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develop AI-driven analytics to provide personalized financial insights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431480"/>
            <a:ext cx="5362044" cy="13419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43281" y="355550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45819" y="4092972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create an interactive dashboard for financial visualization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68176" y="3431480"/>
            <a:ext cx="5362044" cy="134193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749982" y="3555504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6352520" y="4092972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enable automated expense categorization and budget monitoring</a:t>
            </a:r>
            <a:endParaRPr lang="en-US" sz="13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918075"/>
            <a:ext cx="5362044" cy="134193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243281" y="50420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845819" y="5579566"/>
            <a:ext cx="499335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implement intelligent anomaly detection for unusual spending patterns</a:t>
            </a:r>
            <a:endParaRPr lang="en-US" sz="13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68176" y="4918075"/>
            <a:ext cx="5362044" cy="134193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749982" y="5042098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50" spc="-13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1550" dirty="0"/>
          </a:p>
        </p:txBody>
      </p:sp>
      <p:sp>
        <p:nvSpPr>
          <p:cNvPr id="22" name="Text 13"/>
          <p:cNvSpPr/>
          <p:nvPr/>
        </p:nvSpPr>
        <p:spPr>
          <a:xfrm>
            <a:off x="6352520" y="5579566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 provide proactive financial recommendations and alerts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4111"/>
            <a:ext cx="807233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spc="-26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Literature Survey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319411"/>
            <a:ext cx="868192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review of recent research papers on AI-driven personal finance, budgeting, and financial management systems.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6197" y="835323"/>
            <a:ext cx="560373" cy="5603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1675705"/>
            <a:ext cx="10868745" cy="4447381"/>
          </a:xfrm>
          <a:prstGeom prst="roundRect">
            <a:avLst>
              <a:gd name="adj" fmla="val 4383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1475" y="1980505"/>
            <a:ext cx="10868745" cy="81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2808387"/>
            <a:ext cx="10868745" cy="81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3636268"/>
            <a:ext cx="10868745" cy="81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464149"/>
            <a:ext cx="10868745" cy="81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5292030"/>
            <a:ext cx="10868745" cy="812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1536463" y="1675705"/>
            <a:ext cx="8122" cy="44473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273343" y="1675705"/>
            <a:ext cx="8122" cy="44473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6313032" y="1675705"/>
            <a:ext cx="8122" cy="44473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918451" y="1675705"/>
            <a:ext cx="8122" cy="444738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97897" y="1741984"/>
            <a:ext cx="121510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S. No.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669512" y="1741984"/>
            <a:ext cx="208036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Author/Year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406392" y="1741984"/>
            <a:ext cx="338317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Research Work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46081" y="1741984"/>
            <a:ext cx="2948906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Key Contribution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9051500" y="1741984"/>
            <a:ext cx="2952081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Research Gap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97897" y="2043609"/>
            <a:ext cx="121510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669512" y="2043609"/>
            <a:ext cx="208036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DSouza et al., 2026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406392" y="2043609"/>
            <a:ext cx="2773591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Comprehensive Review of Machine Learning Techniques for Intelligent Personal Finance Management Systems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46081" y="2043609"/>
            <a:ext cx="2339321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Provides a broad review of ML methods used in personal finance management, highlighting their role in automation, prediction, and decision support.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9051500" y="2043609"/>
            <a:ext cx="2342496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Calls for more integrated, user-centric, and real-world validated systems that go beyond isolated ML techniques.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97897" y="2871490"/>
            <a:ext cx="121510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669512" y="2871490"/>
            <a:ext cx="208036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Jadhav &amp; Patil, 2025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06392" y="2871490"/>
            <a:ext cx="2773591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AI-ML Based Expense Categorization and Budgeting System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46081" y="2871490"/>
            <a:ext cx="2339321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Proposes an AI-ML driven system for automatic expense categorization and budget tracking to simplify personal financial planning.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9051500" y="2871490"/>
            <a:ext cx="2342496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Needs stronger handling of diverse transaction patterns and improved adaptability across user profiles and spending behaviors.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97897" y="3699371"/>
            <a:ext cx="121510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669512" y="3699371"/>
            <a:ext cx="208036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Pak, 2026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406392" y="3699371"/>
            <a:ext cx="2773591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How Individuals Use Generative AI for Personal Financial Management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446081" y="3699371"/>
            <a:ext cx="2339321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Examines how individuals apply generative AI tools for budgeting, financial advice, and everyday money management tasks.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9051500" y="3699371"/>
            <a:ext cx="2342496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Further study is needed on trust, accuracy, privacy, and long-term behavioral impact of generative AI in finance.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797897" y="4527252"/>
            <a:ext cx="121510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669512" y="4527252"/>
            <a:ext cx="1470782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Halage &amp; Bharathkumar, 2026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406392" y="4527252"/>
            <a:ext cx="2773591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Artificial Intelligence in Personal Finance: Implications for Sustainable Financial Behavior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6446081" y="4527252"/>
            <a:ext cx="2339321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Explores how AI can influence sustainable financial habits by supporting better spending, saving, and planning decisions.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9051500" y="4527252"/>
            <a:ext cx="2342496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Lacks deeper empirical evidence on whether AI guidance consistently leads to sustained behavior change over time.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797897" y="5355134"/>
            <a:ext cx="1215102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1669512" y="5355134"/>
            <a:ext cx="1470782" cy="350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Financial Management System Study, 2025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3406392" y="5355134"/>
            <a:ext cx="2773591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Design of a Digital and Intelligent Financial Management System Based on Business-Finance Integration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46081" y="5355134"/>
            <a:ext cx="2339321" cy="701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Introduces an intelligent financial management design that integrates business and finance functions for more efficient management workflows.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9051500" y="5355134"/>
            <a:ext cx="2342496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Requires validation in broader deployment environments and clearer assessment of usability and scalability.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51805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Problem Gap Identification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31466"/>
            <a:ext cx="86458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focused review of the key limitations shaping current financial management solutions.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10" y="975420"/>
            <a:ext cx="815161" cy="815181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16572"/>
            <a:ext cx="2575357" cy="1744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7479" y="2630984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1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977479" y="3039666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Lack of a unified financial management system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25839" y="2416572"/>
            <a:ext cx="2575456" cy="1744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1842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2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3741842" y="3039666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Limited AI-driven insights in traditional budgeting apps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0301" y="2416572"/>
            <a:ext cx="2575456" cy="17447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06305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3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506305" y="3039666"/>
            <a:ext cx="20450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Absence of real-time anomaly detection</a:t>
            </a:r>
            <a:endParaRPr lang="en-US" sz="14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54764" y="2416572"/>
            <a:ext cx="2575456" cy="174476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270768" y="2630984"/>
            <a:ext cx="20450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4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9270768" y="3039666"/>
            <a:ext cx="20450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Poor scalability in existing microservices implementations</a:t>
            </a:r>
            <a:endParaRPr lang="en-US" sz="14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475" y="4350345"/>
            <a:ext cx="2575357" cy="17447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77479" y="4564757"/>
            <a:ext cx="20449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Gap 5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977479" y="4973439"/>
            <a:ext cx="20449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Inadequate user experience for diverse user groups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2150"/>
            <a:ext cx="804703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spc="-34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Innovation, Creativity, and Novelty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382613"/>
            <a:ext cx="804703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This project combines intelligent analytics, modular design, and user-focused experiences to rethink personal finance management.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706" y="711597"/>
            <a:ext cx="738764" cy="73878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2219424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1772" y="2409726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 Integration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1772" y="2770386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Combining AI-driven analytics with microservices architecture for personal finance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3435" y="2219424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63731" y="2409726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Creative Solution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363731" y="2770386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dashboard with real-time financial insights and personalized recommendations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1475" y="3638352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1772" y="3828653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Novelty in Approach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1772" y="4189313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Modular service-oriented design enabling independent scaling and deployment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73435" y="3638352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3731" y="3828653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Advanced AI Techniques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363731" y="4189313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Machine learning algorithms for spending pattern prediction and anomaly detection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61475" y="5057279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1772" y="5247580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User-Centric Innovation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851772" y="5608241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alerts and proactive financial guidance based on behavioral analysis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173435" y="5057279"/>
            <a:ext cx="5356786" cy="1263749"/>
          </a:xfrm>
          <a:prstGeom prst="roundRect">
            <a:avLst>
              <a:gd name="adj" fmla="val 20332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63731" y="5247580"/>
            <a:ext cx="4976192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spc="-1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Scalable Architecture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363731" y="5608241"/>
            <a:ext cx="4976192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Cloud-native microservices enabling seamless growth and reliability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895"/>
            <a:ext cx="7515136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spc="-25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Architecture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105098"/>
            <a:ext cx="8124721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modular microservices platform connects core financial services through secure APIs for scalable, intelligent management.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8797" y="633512"/>
            <a:ext cx="547674" cy="5476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1447701"/>
            <a:ext cx="10868745" cy="339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 is built on a robust microservices architecture, ensuring scalability, maintainability, and independent deployment of components. Each service communicates via well-defined APIs to provide a seamless and intelligent financial management experience.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79315"/>
            <a:ext cx="5298942" cy="29807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828065" y="1960166"/>
            <a:ext cx="331799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61475" y="5151934"/>
            <a:ext cx="10868745" cy="1168499"/>
          </a:xfrm>
          <a:prstGeom prst="rect">
            <a:avLst/>
          </a:prstGeom>
          <a:noFill/>
          <a:ln/>
        </p:spPr>
        <p:txBody>
          <a:bodyPr wrap="square" lIns="0" tIns="50799" rIns="0" bIns="0" rtlCol="0" anchor="t">
            <a:normAutofit/>
          </a:bodyPr>
          <a:lstStyle/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Authentication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Secure user management, including login, registration, and access control.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Transaction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Recording and managing all financial activities, such as income and expenses.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Budget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Creating, tracking, and monitoring user-defined budgets across various categories.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AI Analysis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Generating intelligent financial insights, identifying spending patterns, and providing personalized recommendations.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Notification Service: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Delivering timely alerts and reminders for budget limits, upcoming bills, and financial goals.</a:t>
            </a:r>
            <a:endParaRPr lang="en-US" sz="950" dirty="0"/>
          </a:p>
          <a:p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b="1" dirty="0">
                <a:solidFill>
                  <a:srgbClr val="5B6E8C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Interactive Dashboard:</a:t>
            </a:r>
            <a:pPr algn="l" marL="193040" indent="-193040">
              <a:lnSpc>
                <a:spcPct val="111000"/>
              </a:lnSpc>
              <a:buSzPct val="100000"/>
              <a:buChar char="•"/>
            </a:pPr>
            <a:r>
              <a:rPr lang="en-US" sz="9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 user-friendly interface for visualizing financial data, customizing reports, and interacting with the system.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93316"/>
            <a:ext cx="803622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spc="-37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Feasibility and Project Plan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72977"/>
            <a:ext cx="80362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phased development timeline from requirements gathering through deployment and documentation.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1310" y="1316930"/>
            <a:ext cx="815161" cy="81518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1475" y="4407098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B3D5E4"/>
          </a:solidFill>
          <a:ln/>
        </p:spPr>
      </p:sp>
      <p:sp>
        <p:nvSpPr>
          <p:cNvPr id="6" name="Shape 3"/>
          <p:cNvSpPr/>
          <p:nvPr/>
        </p:nvSpPr>
        <p:spPr>
          <a:xfrm>
            <a:off x="2117077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7" name="Shape 4"/>
          <p:cNvSpPr/>
          <p:nvPr/>
        </p:nvSpPr>
        <p:spPr>
          <a:xfrm>
            <a:off x="1917156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88046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50482" y="3060502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Requirements Analysis &amp; Design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3703446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1" name="Shape 8"/>
          <p:cNvSpPr/>
          <p:nvPr/>
        </p:nvSpPr>
        <p:spPr>
          <a:xfrm>
            <a:off x="3503525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74415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2436851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Microservices Development</a:t>
            </a:r>
            <a:endParaRPr lang="en-US" sz="1850" dirty="0"/>
          </a:p>
        </p:txBody>
      </p:sp>
      <p:sp>
        <p:nvSpPr>
          <p:cNvPr id="14" name="Shape 11"/>
          <p:cNvSpPr/>
          <p:nvPr/>
        </p:nvSpPr>
        <p:spPr>
          <a:xfrm>
            <a:off x="5289914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5" name="Shape 12"/>
          <p:cNvSpPr/>
          <p:nvPr/>
        </p:nvSpPr>
        <p:spPr>
          <a:xfrm>
            <a:off x="5089993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160883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4023319" y="3060502"/>
            <a:ext cx="255858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AI/ML Integration</a:t>
            </a:r>
            <a:endParaRPr lang="en-US" sz="1850" dirty="0"/>
          </a:p>
        </p:txBody>
      </p:sp>
      <p:sp>
        <p:nvSpPr>
          <p:cNvPr id="18" name="Shape 15"/>
          <p:cNvSpPr/>
          <p:nvPr/>
        </p:nvSpPr>
        <p:spPr>
          <a:xfrm>
            <a:off x="6876283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19" name="Shape 16"/>
          <p:cNvSpPr/>
          <p:nvPr/>
        </p:nvSpPr>
        <p:spPr>
          <a:xfrm>
            <a:off x="6676362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47252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09688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Dashboard Development</a:t>
            </a:r>
            <a:endParaRPr lang="en-US" sz="1850" dirty="0"/>
          </a:p>
        </p:txBody>
      </p:sp>
      <p:sp>
        <p:nvSpPr>
          <p:cNvPr id="22" name="Shape 19"/>
          <p:cNvSpPr/>
          <p:nvPr/>
        </p:nvSpPr>
        <p:spPr>
          <a:xfrm>
            <a:off x="8462751" y="3840063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23" name="Shape 20"/>
          <p:cNvSpPr/>
          <p:nvPr/>
        </p:nvSpPr>
        <p:spPr>
          <a:xfrm>
            <a:off x="8262830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33720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96156" y="3060502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Testing &amp; Optimization</a:t>
            </a:r>
            <a:endParaRPr lang="en-US" sz="1850" dirty="0"/>
          </a:p>
        </p:txBody>
      </p:sp>
      <p:sp>
        <p:nvSpPr>
          <p:cNvPr id="26" name="Shape 23"/>
          <p:cNvSpPr/>
          <p:nvPr/>
        </p:nvSpPr>
        <p:spPr>
          <a:xfrm>
            <a:off x="10049120" y="4407098"/>
            <a:ext cx="25399" cy="567035"/>
          </a:xfrm>
          <a:prstGeom prst="roundRect">
            <a:avLst>
              <a:gd name="adj" fmla="val 50001"/>
            </a:avLst>
          </a:prstGeom>
          <a:solidFill>
            <a:srgbClr val="B3D5E4"/>
          </a:solidFill>
          <a:ln/>
        </p:spPr>
      </p:sp>
      <p:sp>
        <p:nvSpPr>
          <p:cNvPr id="27" name="Shape 24"/>
          <p:cNvSpPr/>
          <p:nvPr/>
        </p:nvSpPr>
        <p:spPr>
          <a:xfrm>
            <a:off x="9849199" y="4194473"/>
            <a:ext cx="425241" cy="425252"/>
          </a:xfrm>
          <a:prstGeom prst="ellipse">
            <a:avLst/>
          </a:prstGeom>
          <a:solidFill>
            <a:srgbClr val="E6F7FF"/>
          </a:solidFill>
          <a:ln w="6350">
            <a:solidFill>
              <a:srgbClr val="B3D5E4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920089" y="4229894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spc="-22" kern="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8782525" y="5163145"/>
            <a:ext cx="25585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spc="-19" kern="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Deployment &amp; Documentation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2026-08-20T03:44:46Z</dcterms:created>
  <dcterms:modified xsi:type="dcterms:W3CDTF">2026-08-20T03:44:46Z</dcterms:modified>
</cp:coreProperties>
</file>